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E8"/>
          </a:solidFill>
          <a:ln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7B2FBE"/>
          </a:solidFill>
          <a:ln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9994392" cy="4389120"/>
          </a:xfrm>
          <a:prstGeom prst="roundRect">
            <a:avLst/>
          </a:prstGeom>
          <a:solidFill>
            <a:srgbClr val="121A36"/>
          </a:solidFill>
          <a:ln w="25400"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554480"/>
            <a:ext cx="88971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4E8"/>
                </a:solidFill>
              </a:rPr>
              <a:t>AI 驱动的靶场自动生成系统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514600"/>
            <a:ext cx="8897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0C0C0"/>
                </a:solidFill>
              </a:rPr>
              <a:t>AI-Driven Cybersecurity Range Auto-Generation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017520"/>
            <a:ext cx="8897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88A0"/>
                </a:solidFill>
              </a:rPr>
              <a:t>计算机科学与技术专业  ·  本科毕业设计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429000"/>
            <a:ext cx="8897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88A0"/>
                </a:solidFill>
              </a:rPr>
              <a:t>汇报人：XXX          指导老师：XXX          2026 年 5 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4846320"/>
            <a:ext cx="1828800" cy="347472"/>
          </a:xfrm>
          <a:prstGeom prst="roundRect">
            <a:avLst/>
          </a:prstGeom>
          <a:solidFill>
            <a:srgbClr val="002A2E"/>
          </a:solidFill>
          <a:ln w="15240"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4846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E8"/>
                </a:solidFill>
              </a:rPr>
              <a:t>Flask + Vue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4846320"/>
            <a:ext cx="1828800" cy="347472"/>
          </a:xfrm>
          <a:prstGeom prst="roundRect">
            <a:avLst/>
          </a:prstGeom>
          <a:solidFill>
            <a:srgbClr val="14260B"/>
          </a:solidFill>
          <a:ln w="15240">
            <a:solidFill>
              <a:srgbClr val="67C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4846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7C23A"/>
                </a:solidFill>
              </a:rPr>
              <a:t>Docker SDK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846320"/>
            <a:ext cx="1828800" cy="347472"/>
          </a:xfrm>
          <a:prstGeom prst="roundRect">
            <a:avLst/>
          </a:prstGeom>
          <a:solidFill>
            <a:srgbClr val="2E200C"/>
          </a:solidFill>
          <a:ln w="15240">
            <a:solidFill>
              <a:srgbClr val="E6A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846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A23C"/>
                </a:solidFill>
              </a:rPr>
              <a:t>DeepSeek LLM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4846320"/>
            <a:ext cx="1828800" cy="347472"/>
          </a:xfrm>
          <a:prstGeom prst="roundRect">
            <a:avLst/>
          </a:prstGeom>
          <a:solidFill>
            <a:srgbClr val="180926"/>
          </a:solidFill>
          <a:ln w="1524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846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B2FBE"/>
                </a:solidFill>
              </a:rPr>
              <a:t>Multi-Agent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E8"/>
          </a:solidFill>
          <a:ln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E8"/>
                </a:solidFill>
              </a:rPr>
              <a:t>研究背景：传统靶场的三大痛点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88A0"/>
                </a:solidFill>
              </a:rPr>
              <a:t>奇安信2024年度报告指出当前网络安全威胁依然复杂，对实战演训环境提出更高要求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47120" cy="13716"/>
          </a:xfrm>
          <a:prstGeom prst="rect">
            <a:avLst/>
          </a:prstGeom>
          <a:solidFill>
            <a:srgbClr val="0080AA"/>
          </a:solidFill>
          <a:ln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566160" cy="3291840"/>
          </a:xfrm>
          <a:prstGeom prst="roundRect">
            <a:avLst/>
          </a:prstGeom>
          <a:solidFill>
            <a:srgbClr val="121A36"/>
          </a:solidFill>
          <a:ln w="19050">
            <a:solidFill>
              <a:srgbClr val="F5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9844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6C6C"/>
                </a:solidFill>
              </a:rPr>
              <a:t>⏳  部署周期长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</a:rPr>
              <a:t>从需求到靶场上线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</a:rPr>
              <a:t>通常需要数天至数周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</a:rPr>
              <a:t>严重制约演练节奏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188720"/>
            <a:ext cx="3566160" cy="3291840"/>
          </a:xfrm>
          <a:prstGeom prst="roundRect">
            <a:avLst/>
          </a:prstGeom>
          <a:solidFill>
            <a:srgbClr val="121A36"/>
          </a:solidFill>
          <a:ln w="19050">
            <a:solidFill>
              <a:srgbClr val="F5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29844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6C6C"/>
                </a:solidFill>
              </a:rPr>
              <a:t>🔒  场景固化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1645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</a:rPr>
              <a:t>靶场配置一旦完成难以更改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1920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</a:rPr>
              <a:t>不同培训目标需重复配置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194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</a:rPr>
              <a:t>缺乏动态适应能力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1188720"/>
            <a:ext cx="3566160" cy="3291840"/>
          </a:xfrm>
          <a:prstGeom prst="roundRect">
            <a:avLst/>
          </a:prstGeom>
          <a:solidFill>
            <a:srgbClr val="121A36"/>
          </a:solidFill>
          <a:ln w="19050">
            <a:solidFill>
              <a:srgbClr val="F5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29844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6C6C"/>
                </a:solidFill>
              </a:rPr>
              <a:t>👨‍💻  依赖人工配置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1645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</a:rPr>
              <a:t>需熟悉 Docker/网络/漏洞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1920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</a:rPr>
              <a:t>人工成本高、易出错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194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</a:rPr>
              <a:t>门槛高阻碍小团队使用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00600"/>
            <a:ext cx="11274552" cy="1463040"/>
          </a:xfrm>
          <a:prstGeom prst="roundRect">
            <a:avLst/>
          </a:prstGeom>
          <a:solidFill>
            <a:srgbClr val="00283C"/>
          </a:solidFill>
          <a:ln w="19050"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937760"/>
            <a:ext cx="10725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E8"/>
                </a:solidFill>
              </a:rPr>
              <a:t>💡  本文方案：自然语言 → LLM 解析 → JSON 配置 → Docker 自动部署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4924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0C0"/>
                </a:solidFill>
              </a:rPr>
              <a:t>目标：将传统需要数天的靶场搭建工作压缩至分钟级，用户无需具备 Docker 配置知识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1500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88A0"/>
                </a:solidFill>
              </a:rPr>
              <a:t>适用场景：轻量级教学实验 · 基础攻防演练 · 快速原型验证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E8"/>
          </a:solidFill>
          <a:ln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E8"/>
                </a:solidFill>
              </a:rPr>
              <a:t>系统总体架构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88A0"/>
                </a:solidFill>
              </a:rPr>
              <a:t>Flask + Vue 3 前后端分离 · Docker 容器底座 · 三层结构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47120" cy="13716"/>
          </a:xfrm>
          <a:prstGeom prst="rect">
            <a:avLst/>
          </a:prstGeom>
          <a:solidFill>
            <a:srgbClr val="0080AA"/>
          </a:solidFill>
          <a:ln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74552" cy="1554480"/>
          </a:xfrm>
          <a:prstGeom prst="roundRect">
            <a:avLst/>
          </a:prstGeom>
          <a:solidFill>
            <a:srgbClr val="003246"/>
          </a:solidFill>
          <a:ln w="25400"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E8"/>
                </a:solidFill>
              </a:rPr>
              <a:t>🖥️  表示层（Vue 3 + Element Plus）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</a:rPr>
              <a:t>  • AI 场景生成页 · 靶场管理页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3911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</a:rPr>
              <a:t>  • 攻击面板 · 防御告警 · 拓扑图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26080"/>
            <a:ext cx="11274552" cy="1554480"/>
          </a:xfrm>
          <a:prstGeom prst="roundRect">
            <a:avLst/>
          </a:prstGeom>
          <a:solidFill>
            <a:srgbClr val="280A46"/>
          </a:solidFill>
          <a:ln w="2540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3580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2FBE"/>
                </a:solidFill>
              </a:rPr>
              <a:t>⚙️  服务层（Flask · 多智能体 · LLM · WatchdogService）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29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</a:rPr>
              <a:t>  • Orchestrator · EnvAgent · AttackAgent · DefenseAgent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7647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</a:rPr>
              <a:t>  • JWT 认证 · 异步队列 · 模型路由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663440"/>
            <a:ext cx="11274552" cy="1554480"/>
          </a:xfrm>
          <a:prstGeom prst="roundRect">
            <a:avLst/>
          </a:prstGeom>
          <a:solidFill>
            <a:srgbClr val="00280A"/>
          </a:solidFill>
          <a:ln w="25400">
            <a:solidFill>
              <a:srgbClr val="67C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77316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7C23A"/>
                </a:solidFill>
              </a:rPr>
              <a:t>🐳  基础设施层（Docker Engine · SQLite）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663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</a:rPr>
              <a:t>  • 容器生命周期管理 · bridge 网络隔离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138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</a:rPr>
              <a:t>  • 靶场容器 · 攻击容器 · 元数据持久化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E8"/>
          </a:solidFill>
          <a:ln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E8"/>
                </a:solidFill>
              </a:rPr>
              <a:t>多智能体协同架构（MAS）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88A0"/>
                </a:solidFill>
              </a:rPr>
              <a:t>Orchestrator 统一调度 · 三专用 Agent 分工 · 自动化攻防闭环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47120" cy="13716"/>
          </a:xfrm>
          <a:prstGeom prst="rect">
            <a:avLst/>
          </a:prstGeom>
          <a:solidFill>
            <a:srgbClr val="0080AA"/>
          </a:solidFill>
          <a:ln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0" y="1188720"/>
            <a:ext cx="3410712" cy="1097280"/>
          </a:xfrm>
          <a:prstGeom prst="roundRect">
            <a:avLst/>
          </a:prstGeom>
          <a:solidFill>
            <a:srgbClr val="002846"/>
          </a:solidFill>
          <a:ln w="25400"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2984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E8"/>
                </a:solidFill>
              </a:rPr>
              <a:t>🎯  Orchestrator 编排器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6642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0C0"/>
                </a:solidFill>
              </a:rPr>
              <a:t>任务分发 · 状态管理 · 错误恢复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651760"/>
            <a:ext cx="3410712" cy="3474720"/>
          </a:xfrm>
          <a:prstGeom prst="roundRect">
            <a:avLst/>
          </a:prstGeom>
          <a:solidFill>
            <a:srgbClr val="112009"/>
          </a:solidFill>
          <a:ln w="22860">
            <a:solidFill>
              <a:srgbClr val="67C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743200"/>
            <a:ext cx="3136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7C23A"/>
                </a:solidFill>
              </a:rPr>
              <a:t>🌐  EnvAgent
环境管理智能体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83280"/>
            <a:ext cx="3136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▸ 自然语言 → JSON 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03320"/>
            <a:ext cx="3136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▸ Docker SDK 创建容器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023360"/>
            <a:ext cx="3136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▸ 少样本样本库管理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343400"/>
            <a:ext cx="3136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▸ 状态同步与数据库写入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651760"/>
            <a:ext cx="3410712" cy="3474720"/>
          </a:xfrm>
          <a:prstGeom prst="roundRect">
            <a:avLst/>
          </a:prstGeom>
          <a:solidFill>
            <a:srgbClr val="281212"/>
          </a:solidFill>
          <a:ln w="22860">
            <a:solidFill>
              <a:srgbClr val="F5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743200"/>
            <a:ext cx="3136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6C6C"/>
                </a:solidFill>
              </a:rPr>
              <a:t>⚔️  AttackAgent
攻击模拟智能体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383280"/>
            <a:ext cx="3136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▸ 6阶段 Kill Chain 建模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703320"/>
            <a:ext cx="3136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▸ 16类攻击类型支持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023360"/>
            <a:ext cx="3136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▸ LLM 生成攻击分析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343400"/>
            <a:ext cx="3136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▸ 沙箱模式真实执行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2651760"/>
            <a:ext cx="3410712" cy="3474720"/>
          </a:xfrm>
          <a:prstGeom prst="roundRect">
            <a:avLst/>
          </a:prstGeom>
          <a:solidFill>
            <a:srgbClr val="261B0A"/>
          </a:solidFill>
          <a:ln w="22860">
            <a:solidFill>
              <a:srgbClr val="E6A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2743200"/>
            <a:ext cx="3136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A23C"/>
                </a:solidFill>
              </a:rPr>
              <a:t>🛡️  DefenseAgent
防御分析智能体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383280"/>
            <a:ext cx="3136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▸ 5级防御状态机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3703320"/>
            <a:ext cx="3136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▸ NIST SP 800-61 参考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4023360"/>
            <a:ext cx="3136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▸ Docker 容器网络隔离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4343400"/>
            <a:ext cx="3136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▸ LLM 结构化防御建议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888A0"/>
                </a:solidFill>
              </a:rPr>
              <a:t>→  环境创建  →  攻击执行  →  防御响应  →  完整闭环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E8"/>
          </a:solidFill>
          <a:ln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E8"/>
                </a:solidFill>
              </a:rPr>
              <a:t>创新1 · 多任务模型路由机制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88A0"/>
                </a:solidFill>
              </a:rPr>
              <a:t>基于 DeepSeek API · Chat (V3) 与 Reasoner (R1) 按任务自动分流 · 差异化温度参数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47120" cy="13716"/>
          </a:xfrm>
          <a:prstGeom prst="rect">
            <a:avLst/>
          </a:prstGeom>
          <a:solidFill>
            <a:srgbClr val="0080AA"/>
          </a:solidFill>
          <a:ln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2377440" cy="41148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E8"/>
                </a:solidFill>
              </a:rPr>
              <a:t>任务类型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097280"/>
            <a:ext cx="1280160" cy="41148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0972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E8"/>
                </a:solidFill>
              </a:rPr>
              <a:t>模型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097280"/>
            <a:ext cx="822960" cy="41148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09728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E8"/>
                </a:solidFill>
              </a:rPr>
              <a:t>温度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097280"/>
            <a:ext cx="1280160" cy="41148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10972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E8"/>
                </a:solidFill>
              </a:rPr>
              <a:t>max_tokens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097280"/>
            <a:ext cx="5029200" cy="41148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097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E8"/>
                </a:solidFill>
              </a:rPr>
              <a:t>设计依据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1554480"/>
            <a:ext cx="2377440" cy="658368"/>
          </a:xfrm>
          <a:prstGeom prst="roundRect">
            <a:avLst/>
          </a:prstGeom>
          <a:solidFill>
            <a:srgbClr val="001A1D"/>
          </a:solidFill>
          <a:ln w="10160"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1554480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E8"/>
                </a:solidFill>
              </a:rPr>
              <a:t>nlp_understanding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1554480"/>
            <a:ext cx="1280160" cy="658368"/>
          </a:xfrm>
          <a:prstGeom prst="roundRect">
            <a:avLst/>
          </a:prstGeom>
          <a:solidFill>
            <a:srgbClr val="121A36"/>
          </a:solidFill>
          <a:ln w="10160"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1554480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Chat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1554480"/>
            <a:ext cx="822960" cy="658368"/>
          </a:xfrm>
          <a:prstGeom prst="roundRect">
            <a:avLst/>
          </a:prstGeom>
          <a:solidFill>
            <a:srgbClr val="121A36"/>
          </a:solidFill>
          <a:ln w="10160"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155448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0.20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1554480"/>
            <a:ext cx="1280160" cy="658368"/>
          </a:xfrm>
          <a:prstGeom prst="roundRect">
            <a:avLst/>
          </a:prstGeom>
          <a:solidFill>
            <a:srgbClr val="121A36"/>
          </a:solidFill>
          <a:ln w="10160"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60" y="1554480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1000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1554480"/>
            <a:ext cx="5029200" cy="658368"/>
          </a:xfrm>
          <a:prstGeom prst="roundRect">
            <a:avLst/>
          </a:prstGeom>
          <a:solidFill>
            <a:srgbClr val="121A36"/>
          </a:solidFill>
          <a:ln w="10160"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55448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C0C0"/>
                </a:solidFill>
              </a:rPr>
              <a:t>语义解析更稳，温度偏低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2286000"/>
            <a:ext cx="2377440" cy="658368"/>
          </a:xfrm>
          <a:prstGeom prst="roundRect">
            <a:avLst/>
          </a:prstGeom>
          <a:solidFill>
            <a:srgbClr val="0C1807"/>
          </a:solidFill>
          <a:ln w="10160">
            <a:solidFill>
              <a:srgbClr val="67C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2286000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7C23A"/>
                </a:solidFill>
              </a:rPr>
              <a:t>range_generation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34640" y="2286000"/>
            <a:ext cx="1280160" cy="658368"/>
          </a:xfrm>
          <a:prstGeom prst="roundRect">
            <a:avLst/>
          </a:prstGeom>
          <a:solidFill>
            <a:srgbClr val="121A36"/>
          </a:solidFill>
          <a:ln w="10160"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80360" y="2286000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Chat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0" y="2286000"/>
            <a:ext cx="822960" cy="658368"/>
          </a:xfrm>
          <a:prstGeom prst="roundRect">
            <a:avLst/>
          </a:prstGeom>
          <a:solidFill>
            <a:srgbClr val="121A36"/>
          </a:solidFill>
          <a:ln w="10160"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1960" y="228600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0.10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0" y="2286000"/>
            <a:ext cx="1280160" cy="658368"/>
          </a:xfrm>
          <a:prstGeom prst="roundRect">
            <a:avLst/>
          </a:prstGeom>
          <a:solidFill>
            <a:srgbClr val="121A36"/>
          </a:solidFill>
          <a:ln w="10160"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66360" y="2286000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2500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2286000"/>
            <a:ext cx="5029200" cy="658368"/>
          </a:xfrm>
          <a:prstGeom prst="roundRect">
            <a:avLst/>
          </a:prstGeom>
          <a:solidFill>
            <a:srgbClr val="121A36"/>
          </a:solidFill>
          <a:ln w="10160"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228600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C0C0"/>
                </a:solidFill>
              </a:rPr>
              <a:t>极低温度确保 JSON 结构完整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3017520"/>
            <a:ext cx="2377440" cy="658368"/>
          </a:xfrm>
          <a:prstGeom prst="roundRect">
            <a:avLst/>
          </a:prstGeom>
          <a:solidFill>
            <a:srgbClr val="1E0D0D"/>
          </a:solidFill>
          <a:ln w="10160">
            <a:solidFill>
              <a:srgbClr val="F5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3017520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6C6C"/>
                </a:solidFill>
              </a:rPr>
              <a:t>attack_analysis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34640" y="3017520"/>
            <a:ext cx="1280160" cy="658368"/>
          </a:xfrm>
          <a:prstGeom prst="roundRect">
            <a:avLst/>
          </a:prstGeom>
          <a:solidFill>
            <a:srgbClr val="121A36"/>
          </a:solidFill>
          <a:ln w="10160"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80360" y="3017520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Reasoner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06240" y="3017520"/>
            <a:ext cx="822960" cy="658368"/>
          </a:xfrm>
          <a:prstGeom prst="roundRect">
            <a:avLst/>
          </a:prstGeom>
          <a:solidFill>
            <a:srgbClr val="121A36"/>
          </a:solidFill>
          <a:ln w="10160"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51960" y="301752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0.70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20640" y="3017520"/>
            <a:ext cx="1280160" cy="658368"/>
          </a:xfrm>
          <a:prstGeom prst="roundRect">
            <a:avLst/>
          </a:prstGeom>
          <a:solidFill>
            <a:srgbClr val="121A36"/>
          </a:solidFill>
          <a:ln w="10160"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66360" y="3017520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400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3017520"/>
            <a:ext cx="5029200" cy="658368"/>
          </a:xfrm>
          <a:prstGeom prst="roundRect">
            <a:avLst/>
          </a:prstGeom>
          <a:solidFill>
            <a:srgbClr val="121A36"/>
          </a:solidFill>
          <a:ln w="10160"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301752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C0C0"/>
                </a:solidFill>
              </a:rPr>
              <a:t>中高温度，支持多角度威胁解读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3749040"/>
            <a:ext cx="2377440" cy="658368"/>
          </a:xfrm>
          <a:prstGeom prst="roundRect">
            <a:avLst/>
          </a:prstGeom>
          <a:solidFill>
            <a:srgbClr val="1C1407"/>
          </a:solidFill>
          <a:ln w="10160">
            <a:solidFill>
              <a:srgbClr val="E6A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3749040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A23C"/>
                </a:solidFill>
              </a:rPr>
              <a:t>defense_decision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834640" y="3749040"/>
            <a:ext cx="1280160" cy="658368"/>
          </a:xfrm>
          <a:prstGeom prst="roundRect">
            <a:avLst/>
          </a:prstGeom>
          <a:solidFill>
            <a:srgbClr val="121A36"/>
          </a:solidFill>
          <a:ln w="10160"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80360" y="3749040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Reasoner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06240" y="3749040"/>
            <a:ext cx="822960" cy="658368"/>
          </a:xfrm>
          <a:prstGeom prst="roundRect">
            <a:avLst/>
          </a:prstGeom>
          <a:solidFill>
            <a:srgbClr val="121A36"/>
          </a:solidFill>
          <a:ln w="10160"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51960" y="374904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0.05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20640" y="3749040"/>
            <a:ext cx="1280160" cy="658368"/>
          </a:xfrm>
          <a:prstGeom prst="roundRect">
            <a:avLst/>
          </a:prstGeom>
          <a:solidFill>
            <a:srgbClr val="121A36"/>
          </a:solidFill>
          <a:ln w="10160"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66360" y="3749040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800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92240" y="3749040"/>
            <a:ext cx="5029200" cy="658368"/>
          </a:xfrm>
          <a:prstGeom prst="roundRect">
            <a:avLst/>
          </a:prstGeom>
          <a:solidFill>
            <a:srgbClr val="121A36"/>
          </a:solidFill>
          <a:ln w="10160"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37960" y="374904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C0C0"/>
                </a:solidFill>
              </a:rPr>
              <a:t>接近零温度，防御判断需确定性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65760" y="4480560"/>
            <a:ext cx="2377440" cy="658368"/>
          </a:xfrm>
          <a:prstGeom prst="roundRect">
            <a:avLst/>
          </a:prstGeom>
          <a:solidFill>
            <a:srgbClr val="0F0517"/>
          </a:solidFill>
          <a:ln w="1016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4480560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B2FBE"/>
                </a:solidFill>
              </a:rPr>
              <a:t>scenario_expansion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834640" y="4480560"/>
            <a:ext cx="1280160" cy="658368"/>
          </a:xfrm>
          <a:prstGeom prst="roundRect">
            <a:avLst/>
          </a:prstGeom>
          <a:solidFill>
            <a:srgbClr val="121A36"/>
          </a:solidFill>
          <a:ln w="10160"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80360" y="4480560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Chat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206240" y="4480560"/>
            <a:ext cx="822960" cy="658368"/>
          </a:xfrm>
          <a:prstGeom prst="roundRect">
            <a:avLst/>
          </a:prstGeom>
          <a:solidFill>
            <a:srgbClr val="121A36"/>
          </a:solidFill>
          <a:ln w="10160"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51960" y="448056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0.65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120640" y="4480560"/>
            <a:ext cx="1280160" cy="658368"/>
          </a:xfrm>
          <a:prstGeom prst="roundRect">
            <a:avLst/>
          </a:prstGeom>
          <a:solidFill>
            <a:srgbClr val="121A36"/>
          </a:solidFill>
          <a:ln w="10160"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66360" y="4480560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1500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92240" y="4480560"/>
            <a:ext cx="5029200" cy="658368"/>
          </a:xfrm>
          <a:prstGeom prst="roundRect">
            <a:avLst/>
          </a:prstGeom>
          <a:solidFill>
            <a:srgbClr val="121A36"/>
          </a:solidFill>
          <a:ln w="10160"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37960" y="448056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C0C0"/>
                </a:solidFill>
              </a:rPr>
              <a:t>中高温度，生成场景变种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54864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888A0"/>
                </a:solidFill>
              </a:rPr>
              <a:t>每次路由调用均记录日志：task_type → model + temperature + max_tokens，便于性能分析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E8"/>
          </a:solidFill>
          <a:ln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E8"/>
                </a:solidFill>
              </a:rPr>
              <a:t>创新2 · 少样本学习机制（In-Context Learning）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88A0"/>
                </a:solidFill>
              </a:rPr>
              <a:t>不对模型做参数训练，利用历史成功部署案例引导 LLM 输出结构稳定的靶场配置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47120" cy="13716"/>
          </a:xfrm>
          <a:prstGeom prst="rect">
            <a:avLst/>
          </a:prstGeom>
          <a:solidFill>
            <a:srgbClr val="0080AA"/>
          </a:solidFill>
          <a:ln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3611880" cy="3200400"/>
          </a:xfrm>
          <a:prstGeom prst="roundRect">
            <a:avLst/>
          </a:prstGeom>
          <a:solidFill>
            <a:srgbClr val="0E1B08"/>
          </a:solidFill>
          <a:ln w="25400">
            <a:solidFill>
              <a:srgbClr val="67C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7C23A"/>
                </a:solidFill>
              </a:rPr>
              <a:t>① 样本积累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</a:rPr>
              <a:t>  • 每次靶场成功部署后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</a:rPr>
              <a:t>  • 自动保存"用户描述 → 最终配置"对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1460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</a:rPr>
              <a:t>  • 附时间戳存至 training_examples.json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88720"/>
            <a:ext cx="3611880" cy="3200400"/>
          </a:xfrm>
          <a:prstGeom prst="roundRect">
            <a:avLst/>
          </a:prstGeom>
          <a:solidFill>
            <a:srgbClr val="001E21"/>
          </a:solidFill>
          <a:ln w="25400"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25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E8"/>
                </a:solidFill>
              </a:rPr>
              <a:t>② 关键词匹配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78308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</a:rPr>
              <a:t>  • 新请求到来时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4884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</a:rPr>
              <a:t>  • 计算与历史样本的词汇重叠度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51460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</a:rPr>
              <a:t>  • 取得分最高的 1~3 条作为参考案例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188720"/>
            <a:ext cx="3611880" cy="3200400"/>
          </a:xfrm>
          <a:prstGeom prst="roundRect">
            <a:avLst/>
          </a:prstGeom>
          <a:solidFill>
            <a:srgbClr val="201708"/>
          </a:solidFill>
          <a:ln w="25400">
            <a:solidFill>
              <a:srgbClr val="E6A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325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A23C"/>
                </a:solidFill>
              </a:rPr>
              <a:t>③ Prompt 注入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78308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</a:rPr>
              <a:t>  • 以"输入→输出"对的形式注入系统提示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14884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</a:rPr>
              <a:t>  • 引导模型按相似结构生成配置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51460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</a:rPr>
              <a:t>  • 无需额外存储或向量数据库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663440"/>
            <a:ext cx="11430000" cy="1600200"/>
          </a:xfrm>
          <a:prstGeom prst="roundRect">
            <a:avLst/>
          </a:prstGeom>
          <a:solidFill>
            <a:srgbClr val="00280A"/>
          </a:solidFill>
          <a:ln w="19050">
            <a:solidFill>
              <a:srgbClr val="67C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7548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7C23A"/>
                </a:solidFill>
              </a:rPr>
              <a:t>📊  少样本学习效果验证结果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166360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✓  0-shot 基线：约 19% 准确率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04104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✓  5-shot 最优：约 70% 准确率（+51个百分点）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641848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✓  10-shot 回落至 64%（样本过多引入噪声）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7959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✓  配合 JSON Schema 校验+白名单补全，实际可用性可达 90% 以上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E8"/>
          </a:solidFill>
          <a:ln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E8"/>
                </a:solidFill>
              </a:rPr>
              <a:t>创新3 · 配置可靠性双重保障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88A0"/>
                </a:solidFill>
              </a:rPr>
              <a:t>针对 LLM 输出不稳定问题，Prompt 层约束 + 代码层补全，缺一不可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47120" cy="13716"/>
          </a:xfrm>
          <a:prstGeom prst="rect">
            <a:avLst/>
          </a:prstGeom>
          <a:solidFill>
            <a:srgbClr val="0080AA"/>
          </a:solidFill>
          <a:ln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5486400" cy="5074920"/>
          </a:xfrm>
          <a:prstGeom prst="roundRect">
            <a:avLst/>
          </a:prstGeom>
          <a:solidFill>
            <a:srgbClr val="002846"/>
          </a:solidFill>
          <a:ln w="25400"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E8"/>
                </a:solidFill>
              </a:rPr>
              <a:t>🛡️  第一道防线：镜像白名单（Prompt层）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共 13 种经过实测验证的镜像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99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E8"/>
                </a:solidFill>
              </a:rPr>
              <a:t>基础设施镜像（10种）：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225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nginx · httpd · php · mysql · redis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151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postgres · ubuntu · python · node · alpine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077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E8"/>
                </a:solidFill>
              </a:rPr>
              <a:t>漏洞靶场镜像（3种）：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DVWA · WebGoat · JuiceShop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4930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78561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每个条目包含：正确 tag · 必需环境变量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0782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· 启动命令 · 暴露端口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3708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663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以约束条件形式写入 Prompt 传给 LLM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188720"/>
            <a:ext cx="5696712" cy="5074920"/>
          </a:xfrm>
          <a:prstGeom prst="roundRect">
            <a:avLst/>
          </a:prstGeom>
          <a:solidFill>
            <a:srgbClr val="281400"/>
          </a:solidFill>
          <a:ln w="25400">
            <a:solidFill>
              <a:srgbClr val="E6A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298448"/>
            <a:ext cx="5422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A23C"/>
                </a:solidFill>
              </a:rPr>
              <a:t>🔧  第二道防线：代码层自动补全（_patch_components）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737360"/>
            <a:ext cx="5422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对 LLM 返回的每个容器配置自动校验：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029968"/>
            <a:ext cx="5422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322576"/>
            <a:ext cx="5422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A23C"/>
                </a:solidFill>
              </a:rPr>
              <a:t>  ✓  镜像名不在白名单 → 替换为最近似镜像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615184"/>
            <a:ext cx="5422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A23C"/>
                </a:solidFill>
              </a:rPr>
              <a:t>  ✓  缺少必需环境变量 → 从白名单填入默认值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907792"/>
            <a:ext cx="5422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A23C"/>
                </a:solidFill>
              </a:rPr>
              <a:t>  ✓  缺少启动命令 → 自动补 sleep infinity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200400"/>
            <a:ext cx="5422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A23C"/>
                </a:solidFill>
              </a:rPr>
              <a:t>  ✓  端口号异常 → 用镜像默认端口覆盖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493008"/>
            <a:ext cx="5422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785616"/>
            <a:ext cx="5422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A23C"/>
                </a:solidFill>
              </a:rPr>
              <a:t>降级策略（LLM 连续 3 次解析失败）：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078224"/>
            <a:ext cx="5422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→ 降低 temperature 重试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370832"/>
            <a:ext cx="5422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→ 最终回退到预设默认靶场模板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663440"/>
            <a:ext cx="5422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→ 保证任务流程不中断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E8"/>
          </a:solidFill>
          <a:ln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E8"/>
                </a:solidFill>
              </a:rPr>
              <a:t>真实化落地 Level 1 · Docker 容器网络隔离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88A0"/>
                </a:solidFill>
              </a:rPr>
              <a:t>防御等级 ≥ 4（封禁级）时，通过 Docker SDK 真实断开靶场容器的网络连接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47120" cy="13716"/>
          </a:xfrm>
          <a:prstGeom prst="rect">
            <a:avLst/>
          </a:prstGeom>
          <a:solidFill>
            <a:srgbClr val="0080AA"/>
          </a:solidFill>
          <a:ln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5029200" cy="5120640"/>
          </a:xfrm>
          <a:prstGeom prst="roundRect">
            <a:avLst/>
          </a:prstGeom>
          <a:solidFill>
            <a:srgbClr val="320A0A"/>
          </a:solidFill>
          <a:ln w="25400">
            <a:solidFill>
              <a:srgbClr val="F5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6C6C"/>
                </a:solidFill>
              </a:rPr>
              <a:t>🔴  触发条件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攻击阶段4（持久化/提权）+ 任意强度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8882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攻击阶段3（漏洞利用）+ 强度 ≥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5856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攻击阶段2（武器化）+ 强度 ≥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2831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9806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强度加成规则：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6781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A23C"/>
                </a:solidFill>
              </a:rPr>
              <a:t>  &lt; 5 → +0    5-7 → +1    ≥ 8 → +2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33756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0730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6C6C"/>
                </a:solidFill>
              </a:rPr>
              <a:t>本次实现前：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87705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  所有"封禁"= 追加字符串 + 内存列表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14680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  ← 纯仿真，无实际网络效果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41655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68630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6C6C"/>
                </a:solidFill>
              </a:rPr>
              <a:t>本次实现后：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95604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  调用 docker.networks.get(net)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22579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  .disconnect(container, force=True)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9554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  ← 可通过 docker inspect 验证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0" y="1188720"/>
            <a:ext cx="6153912" cy="5120640"/>
          </a:xfrm>
          <a:prstGeom prst="roundRect">
            <a:avLst/>
          </a:prstGeom>
          <a:solidFill>
            <a:srgbClr val="001E32"/>
          </a:solidFill>
          <a:ln w="25400"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1298448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E8"/>
                </a:solidFill>
              </a:rPr>
              <a:t>🔒  实现细节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1719072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D4E8"/>
                </a:solidFill>
              </a:rPr>
              <a:t>services/docker_isolate.py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1988820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2258568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1. 通过端口查 targets 表，找 container_name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2528316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2. 断开所有 bridge 网络（host/none 保留）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2798064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3. 写入 _blocked 字典，记录隔离时间戳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3067812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4. 60s 后守护线程自动重连网络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3337560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3607308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新增 API 端点：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3877056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7C23A"/>
                </a:solidFill>
              </a:rPr>
              <a:t>  GET  /api/defense/blocked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4146804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       → 查询当前隔离中的容器列表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4416552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7C23A"/>
                </a:solidFill>
              </a:rPr>
              <a:t>  POST /api/defense/unblock/&lt;name&gt;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4686300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       → 手动提前解除隔离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4956048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5225796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降级保护：Docker 不可用时回退文本记录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0" y="5495544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  演练流程不中断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E8"/>
          </a:solidFill>
          <a:ln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E8"/>
                </a:solidFill>
              </a:rPr>
              <a:t>真实化落地 Level 2 · 沙箱攻击模式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88A0"/>
                </a:solidFill>
              </a:rPr>
              <a:t>使用 python:3.11-slim 容器执行真实命令，产生真实网络请求与输出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47120" cy="13716"/>
          </a:xfrm>
          <a:prstGeom prst="rect">
            <a:avLst/>
          </a:prstGeom>
          <a:solidFill>
            <a:srgbClr val="0080AA"/>
          </a:solidFill>
          <a:ln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5029200" cy="5120640"/>
          </a:xfrm>
          <a:prstGeom prst="roundRect">
            <a:avLst/>
          </a:prstGeom>
          <a:solidFill>
            <a:srgbClr val="281400"/>
          </a:solidFill>
          <a:ln w="25400">
            <a:solidFill>
              <a:srgbClr val="E6A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A23C"/>
                </a:solidFill>
              </a:rPr>
              <a:t>🔥  工作原理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1.  查询目标容器的 Docker 内网 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2.  启动 python:3.11-slim 攻击容器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6771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    接入目标容器所在 bridge 网络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4203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3.  执行对应攻击的 Python 脚本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1635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    (socket/urllib 实现，无需额外工具)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9067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4.  收集真实输出（JSON 格式化）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36499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5.  超时(20s)后强制销毁，不留残留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3931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91363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7C23A"/>
                </a:solidFill>
              </a:rPr>
              <a:t>支持的 9 类攻击（真实执行）：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18795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A23C"/>
                </a:solidFill>
              </a:rPr>
              <a:t>  端口扫描 · 服务识别 · SQL注入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46227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A23C"/>
                </a:solidFill>
              </a:rPr>
              <a:t>  XSS · SSRF · 目录枚举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73659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A23C"/>
                </a:solidFill>
              </a:rPr>
              <a:t>  暴力破解 · 横向移动 · 数据外传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01091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28523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其余类型：自动降级为 LLM 仿真模式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1188720"/>
            <a:ext cx="6153912" cy="5120640"/>
          </a:xfrm>
          <a:prstGeom prst="roundRect">
            <a:avLst/>
          </a:prstGeom>
          <a:solidFill>
            <a:srgbClr val="001428"/>
          </a:solidFill>
          <a:ln w="25400"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1298448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E8"/>
                </a:solidFill>
              </a:rPr>
              <a:t>💻  前端沙箱输出卡片（示例）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97880" y="1719072"/>
            <a:ext cx="5696712" cy="36576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E6A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1783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88A0"/>
                </a:solidFill>
              </a:rPr>
              <a:t>// 端口扫描真实输出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209397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{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40487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  "target": "172.17.0.3",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271576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  "open_ports": [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30266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7C23A"/>
                </a:solidFill>
              </a:rPr>
              <a:t>    {"port": 80, "state": "open",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333756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7C23A"/>
                </a:solidFill>
              </a:rPr>
              <a:t>     "banner": "HTTP/1.1 200 OK"},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64845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7C23A"/>
                </a:solidFill>
              </a:rPr>
              <a:t>    {"port": 3306, "state": "open",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395935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7C23A"/>
                </a:solidFill>
              </a:rPr>
              <a:t>     "banner": "5.7.38-MySQL"}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427024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  ],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458114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D4E8"/>
                </a:solidFill>
              </a:rPr>
              <a:t>  "total":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48920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557784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888A0"/>
                </a:solidFill>
              </a:rPr>
              <a:t>前端攻击面板新增"执行模式"卡片切换器，沙箱激活时橙色高亮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E8"/>
          </a:solidFill>
          <a:ln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E8"/>
                </a:solidFill>
              </a:rPr>
              <a:t>后台守护 · WatchdogService 监控服务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88A0"/>
                </a:solidFill>
              </a:rPr>
              <a:t>"注册-巡检-告警"三阶段设计 · 守护线程 · 不占用主线程资源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47120" cy="13716"/>
          </a:xfrm>
          <a:prstGeom prst="rect">
            <a:avLst/>
          </a:prstGeom>
          <a:solidFill>
            <a:srgbClr val="0080AA"/>
          </a:solidFill>
          <a:ln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11430000" cy="1078992"/>
          </a:xfrm>
          <a:prstGeom prst="roundRect">
            <a:avLst/>
          </a:prstGeom>
          <a:solidFill>
            <a:srgbClr val="1E0D0D"/>
          </a:solidFill>
          <a:ln w="19050">
            <a:solidFill>
              <a:srgbClr val="F5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6C6C"/>
                </a:solidFill>
              </a:rPr>
              <a:t>🔴  CPU 使用率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2801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</a:rPr>
              <a:t>阈值：80%    巡检间隔：30s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2801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888A0"/>
                </a:solidFill>
              </a:rPr>
              <a:t>check_cpu_usage()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88A0"/>
                </a:solidFill>
              </a:rPr>
              <a:t>  → 超阈值时写入内存告警队列（滚动保留100条），logging.WARNING 输出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350008"/>
            <a:ext cx="11430000" cy="1078992"/>
          </a:xfrm>
          <a:prstGeom prst="roundRect">
            <a:avLst/>
          </a:prstGeom>
          <a:solidFill>
            <a:srgbClr val="1C1407"/>
          </a:solidFill>
          <a:ln w="19050">
            <a:solidFill>
              <a:srgbClr val="E6A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4144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A23C"/>
                </a:solidFill>
              </a:rPr>
              <a:t>🟡  内存使用率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4414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</a:rPr>
              <a:t>阈值：85%    巡检间隔：30s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4414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888A0"/>
                </a:solidFill>
              </a:rPr>
              <a:t>check_memory_usage()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986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88A0"/>
                </a:solidFill>
              </a:rPr>
              <a:t>  → 超阈值时写入内存告警队列（滚动保留100条），logging.WARNING 输出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511296"/>
            <a:ext cx="11430000" cy="1078992"/>
          </a:xfrm>
          <a:prstGeom prst="roundRect">
            <a:avLst/>
          </a:prstGeom>
          <a:solidFill>
            <a:srgbClr val="001A1D"/>
          </a:solidFill>
          <a:ln w="19050"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60273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E8"/>
                </a:solidFill>
              </a:rPr>
              <a:t>🔵  磁盘使用率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60273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</a:rPr>
              <a:t>阈值：90%    巡检间隔：60s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60273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888A0"/>
                </a:solidFill>
              </a:rPr>
              <a:t>check_disk_usage()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05993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88A0"/>
                </a:solidFill>
              </a:rPr>
              <a:t>  → 超阈值时写入内存告警队列（滚动保留100条），logging.WARNING 输出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672584"/>
            <a:ext cx="11430000" cy="1078992"/>
          </a:xfrm>
          <a:prstGeom prst="roundRect">
            <a:avLst/>
          </a:prstGeom>
          <a:solidFill>
            <a:srgbClr val="0C1807"/>
          </a:solidFill>
          <a:ln w="19050">
            <a:solidFill>
              <a:srgbClr val="67C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76402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7C23A"/>
                </a:solidFill>
              </a:rPr>
              <a:t>🟢  Docker 容器数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76402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0C0"/>
                </a:solidFill>
              </a:rPr>
              <a:t>阈值：无阈值    巡检间隔：30s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76402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888A0"/>
                </a:solidFill>
              </a:rPr>
              <a:t>check_docker_containers()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2212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88A0"/>
                </a:solidFill>
              </a:rPr>
              <a:t>  → 仅记录容器数量，用于基线分析和趋势追踪，不触发告警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9436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888A0"/>
                </a:solidFill>
              </a:rPr>
              <a:t>psutil 提供跨平台系统指标采集 · 依赖缺失时返回合理默认值（CPU 25%）保证服务正常启动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E8"/>
          </a:solidFill>
          <a:ln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E8"/>
                </a:solidFill>
              </a:rPr>
              <a:t>测试与性能评估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88A0"/>
                </a:solidFill>
              </a:rPr>
              <a:t>测试环境：Windows 11 · i7-12700H · 16GB · Docker Desktop · DeepSeek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47120" cy="13716"/>
          </a:xfrm>
          <a:prstGeom prst="rect">
            <a:avLst/>
          </a:prstGeom>
          <a:solidFill>
            <a:srgbClr val="0080AA"/>
          </a:solidFill>
          <a:ln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3611880" cy="3200400"/>
          </a:xfrm>
          <a:prstGeom prst="roundRect">
            <a:avLst/>
          </a:prstGeom>
          <a:solidFill>
            <a:srgbClr val="001E21"/>
          </a:solidFill>
          <a:ln w="25400"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E8"/>
                </a:solidFill>
              </a:rPr>
              <a:t>⏱️  靶场生成时间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• 配置生成（LLM）：平均 4.56s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3969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• 容器创建（缓存镜像）：平均 2.10s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237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• 端到端总耗时：平均 6.65s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077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• 最快（单组件+缓存）：~5.35s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188720"/>
            <a:ext cx="3611880" cy="3200400"/>
          </a:xfrm>
          <a:prstGeom prst="roundRect">
            <a:avLst/>
          </a:prstGeom>
          <a:solidFill>
            <a:srgbClr val="0E1B08"/>
          </a:solidFill>
          <a:ln w="25400">
            <a:solidFill>
              <a:srgbClr val="67C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2984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7C23A"/>
                </a:solidFill>
              </a:rPr>
              <a:t>📊  少样本学习效果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7556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• 0-shot 准确率：~19%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13969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• 5-shot 准确率：~70%（+51pp）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5237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• 10-shot 回落：~64%（噪声影响）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9077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• 配合白名单补全：实际可用率 &gt;90%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188720"/>
            <a:ext cx="3611880" cy="3200400"/>
          </a:xfrm>
          <a:prstGeom prst="roundRect">
            <a:avLst/>
          </a:prstGeom>
          <a:solidFill>
            <a:srgbClr val="201708"/>
          </a:solidFill>
          <a:ln w="25400">
            <a:solidFill>
              <a:srgbClr val="E6A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2984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A23C"/>
                </a:solidFill>
              </a:rPr>
              <a:t>🌐  API 响应时间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7556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• 主要接口响应：~2050ms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13969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• （含 WatchdogService 2s 轮询开销）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5237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• 波动范围：±10ms 以内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9077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• LLM 接口（异步处理）：3-5s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617720"/>
            <a:ext cx="11430000" cy="1600200"/>
          </a:xfrm>
          <a:prstGeom prst="roundRect">
            <a:avLst/>
          </a:prstGeom>
          <a:solidFill>
            <a:srgbClr val="1E1400"/>
          </a:solidFill>
          <a:ln w="19050">
            <a:solidFill>
              <a:srgbClr val="E6A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091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A23C"/>
                </a:solidFill>
              </a:rPr>
              <a:t>⚠️  当前局限性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0749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• 单机 Docker 部署：靶场规模受宿主机资源限制（WatchdogService 85% 内存阈值提前预警）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422392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• LLM 输出偶发不稳定：多层降级策略兜底（3次重试 → 回退默认模板）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76986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0C0"/>
                </a:solidFill>
              </a:rPr>
              <a:t>  • 镜像白名单范围：目前 13 种，扩展新镜像需手工验证参数（持续维护成本）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E8"/>
          </a:solidFill>
          <a:ln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E8"/>
                </a:solidFill>
              </a:rP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1247120" cy="13716"/>
          </a:xfrm>
          <a:prstGeom prst="rect">
            <a:avLst/>
          </a:prstGeom>
          <a:solidFill>
            <a:srgbClr val="0080AA"/>
          </a:solidFill>
          <a:ln>
            <a:solidFill>
              <a:srgbClr val="008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5486400" cy="5029200"/>
          </a:xfrm>
          <a:prstGeom prst="roundRect">
            <a:avLst/>
          </a:prstGeom>
          <a:solidFill>
            <a:srgbClr val="00230A"/>
          </a:solidFill>
          <a:ln w="25400">
            <a:solidFill>
              <a:srgbClr val="67C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7C23A"/>
                </a:solidFill>
              </a:rPr>
              <a:t>✅  已完成的主要工作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190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7C23A"/>
                </a:solidFill>
              </a:rPr>
              <a:t>多智能体协同靶场自动生成架构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933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  EnvAgent / AttackAgent / DefenseAgent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677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7C23A"/>
                </a:solidFill>
              </a:rPr>
              <a:t>多任务模型路由（5种任务类型）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420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  Chat &amp; Reasoner 差异化温度参数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163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7C23A"/>
                </a:solidFill>
              </a:rPr>
              <a:t>少样本学习机制（关键词频率匹配）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906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  0-shot→5-shot 准确率提升 51pp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649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7C23A"/>
                </a:solidFill>
              </a:rPr>
              <a:t>双重配置保障（白名单 + 代码补全）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393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  AI 生成靶场实际可用率 &gt;90%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136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7C23A"/>
                </a:solidFill>
              </a:rPr>
              <a:t>WatchdogService（CPU/内存/磁盘/容器）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879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7C23A"/>
                </a:solidFill>
              </a:rPr>
              <a:t>Docker 容器网络隔离（level≥4 真实断网）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4622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7C23A"/>
                </a:solidFill>
              </a:rPr>
              <a:t>沙箱攻击模式（9类真实命令执行）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7365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7C23A"/>
                </a:solidFill>
              </a:rPr>
              <a:t>前端全功能管理面板（Vue 3）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188720"/>
            <a:ext cx="5696712" cy="5029200"/>
          </a:xfrm>
          <a:prstGeom prst="roundRect">
            <a:avLst/>
          </a:prstGeom>
          <a:solidFill>
            <a:srgbClr val="001432"/>
          </a:solidFill>
          <a:ln w="25400"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29844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E8"/>
                </a:solidFill>
              </a:rPr>
              <a:t>🔭  未来工作方向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71907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D4E8"/>
                </a:solidFill>
              </a:rPr>
              <a:t>① Kubernetes 多节点扩展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99339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  跨节点分布式靶场编排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26771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  弹性伸缩，突破单机资源瓶颈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54203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81635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D4E8"/>
                </a:solidFill>
              </a:rPr>
              <a:t>② 强化学习驱动攻防对抗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09067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  攻防 Agent 改造为 RL 智能体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36499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  LLM + RL 结合，早期训练 2× 奖励提升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63931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  （参考 Tholl 等人研究）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91363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18795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D4E8"/>
                </a:solidFill>
              </a:rPr>
              <a:t>③ CVE/NVD 知识图谱增强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46227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  根据 CVE 编号自动生成漏洞靶场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73659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C0C0"/>
                </a:solidFill>
              </a:rPr>
              <a:t>  提升训练场景与真实威胁的对应精度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E8"/>
          </a:solidFill>
          <a:ln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7B2FBE"/>
          </a:solidFill>
          <a:ln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0" y="1645920"/>
            <a:ext cx="8897112" cy="3200400"/>
          </a:xfrm>
          <a:prstGeom prst="roundRect">
            <a:avLst/>
          </a:prstGeom>
          <a:solidFill>
            <a:srgbClr val="121A36"/>
          </a:solidFill>
          <a:ln w="25400"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2011680"/>
            <a:ext cx="79827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D4E8"/>
                </a:solidFill>
              </a:rPr>
              <a:t>感谢各位评委老师聆听与指导！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926080"/>
            <a:ext cx="79827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0C0C0"/>
                </a:solidFill>
              </a:rPr>
              <a:t>恳请各位老师批评指正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4846320"/>
            <a:ext cx="1828800" cy="1005840"/>
          </a:xfrm>
          <a:prstGeom prst="roundRect">
            <a:avLst/>
          </a:prstGeom>
          <a:solidFill>
            <a:srgbClr val="002326"/>
          </a:solidFill>
          <a:ln w="15240"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4892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E8"/>
                </a:solidFill>
              </a:rPr>
              <a:t>~30+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5367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888A0"/>
                </a:solidFill>
              </a:rPr>
              <a:t>代码文件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4846320"/>
            <a:ext cx="1828800" cy="1005840"/>
          </a:xfrm>
          <a:prstGeom prst="roundRect">
            <a:avLst/>
          </a:prstGeom>
          <a:solidFill>
            <a:srgbClr val="281212"/>
          </a:solidFill>
          <a:ln w="15240">
            <a:solidFill>
              <a:srgbClr val="F5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4892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6C6C"/>
                </a:solidFill>
              </a:rPr>
              <a:t>16 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5367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888A0"/>
                </a:solidFill>
              </a:rPr>
              <a:t>攻击类型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846320"/>
            <a:ext cx="1828800" cy="1005840"/>
          </a:xfrm>
          <a:prstGeom prst="roundRect">
            <a:avLst/>
          </a:prstGeom>
          <a:solidFill>
            <a:srgbClr val="112009"/>
          </a:solidFill>
          <a:ln w="15240">
            <a:solidFill>
              <a:srgbClr val="67C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892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7C23A"/>
                </a:solidFill>
              </a:rPr>
              <a:t>13 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367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888A0"/>
                </a:solidFill>
              </a:rPr>
              <a:t>支持镜像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4846320"/>
            <a:ext cx="1828800" cy="1005840"/>
          </a:xfrm>
          <a:prstGeom prst="roundRect">
            <a:avLst/>
          </a:prstGeom>
          <a:solidFill>
            <a:srgbClr val="261B0A"/>
          </a:solidFill>
          <a:ln w="15240">
            <a:solidFill>
              <a:srgbClr val="E6A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892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6A23C"/>
                </a:solidFill>
              </a:rPr>
              <a:t>40+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5367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888A0"/>
                </a:solidFill>
              </a:rPr>
              <a:t>API 端点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